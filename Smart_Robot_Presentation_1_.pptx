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14884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AUTONOMOUS</a:t>
            </a:r>
            <a:endParaRPr lang="en-US" sz="4000" dirty="0"/>
          </a:p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MULTI-MODE ROBOT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spc="300" kern="0" dirty="0">
                <a:solidFill>
                  <a:srgbClr val="F4C9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ARDUINO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434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 —  Design, Block Diagram, Components &amp; Working Principle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— Front End Development Frameworks and UI Engineering (25CS1201E)  |  2025-26, Term-III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731520" y="4960000"/>
          <a:ext cx="10698480" cy="1185000"/>
        </p:xfrm>
        <a:graphic>
          <a:graphicData uri="http://schemas.openxmlformats.org/drawingml/2006/table">
            <a:tbl>
              <a:tblPr firstRow="1" bandRow="0"/>
              <a:tblGrid>
                <a:gridCol w="6000000"/>
                <a:gridCol w="4698480"/>
              </a:tblGrid>
              <a:tr h="21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1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9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11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95D"/>
                    </a:solidFill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Samshritha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2520030045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Lasya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2520030538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Asritha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2520030592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Bindhu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2520030077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Lakshmi Sri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2520030264</a:t>
                      </a:r>
                      <a:endParaRPr lang="en-US" sz="1000" dirty="0"/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system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858000" cy="4846320"/>
          </a:xfrm>
          <a:prstGeom prst="rect">
            <a:avLst>
              <a:gd name="adj" fmla="val 1509"/>
            </a:avLst>
          </a:prstGeom>
          <a:solidFill>
            <a:srgbClr val="F6F8FD"/>
          </a:solidFill>
          <a:ln w="9525">
            <a:solidFill>
              <a:srgbClr val="AFC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309360" cy="4389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Autonomous Multi-Mode Robot Using Arduino is a mobile robotic system built to operate in both manual and autonomous modes.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Arduino Uno acts as the main controller, processing commands and driving robot movement. A Bluetooth module lets a user control the robot wirelessly from a mobile device in manual mode. In autonomous mode, an ultrasonic sensor continuously scans for obstacles ahead, and the Arduino uses that data to make real-time movement decisions and avoid collisions.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gear motors, paired through an L293D motor driver, turn the robot wheels. Two Li-ion batteries power the system, and a physical switch turns the robot ON and OFF.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635240" y="1463040"/>
            <a:ext cx="3977640" cy="4846320"/>
          </a:xfrm>
          <a:prstGeom prst="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09560" y="16916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C9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22860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732520" y="2286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modes — Manual (Bluetooth) &amp; Autonomous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31089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732520" y="31089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motors driving 4 wheels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39319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732520" y="39319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 for obstacle avoidance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47548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47548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batteries for portable power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57150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AEC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surveillance · indoor navigation · educational robotics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Autonomous Multi-Mode Robot Using Arduino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3317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Li-ion Batteries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(7.4V pack)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417320"/>
            <a:ext cx="16916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/ OFF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80360" y="176022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520440" y="21214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/ 5V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91940" y="2103120"/>
            <a:ext cx="0" cy="5029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6060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06040"/>
            <a:ext cx="23317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Module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(HC-05 / HC-06)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260604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4C95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43400" y="2606040"/>
            <a:ext cx="26517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 Controller)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26060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3880" y="2606040"/>
            <a:ext cx="251460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(HC-SR04)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80360" y="2880360"/>
            <a:ext cx="14630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880360" y="261518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(Rx/Tx)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95160" y="2880360"/>
            <a:ext cx="11887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995160" y="26151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Echo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4015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IN1–IN4 (control)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0" y="3383280"/>
            <a:ext cx="0" cy="4114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43400" y="379476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F6D2A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43400" y="3794760"/>
            <a:ext cx="26517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L293D Motor Driver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(Dual H-Bridge)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937760" y="1760220"/>
            <a:ext cx="6309360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1247120" y="1760220"/>
            <a:ext cx="0" cy="235458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995160" y="4114800"/>
            <a:ext cx="4251960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9646920" y="416052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(motor supply)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 flipH="1">
            <a:off x="2788920" y="4480560"/>
            <a:ext cx="2697480" cy="5029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852160" y="4480560"/>
            <a:ext cx="2971800" cy="5029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3383280" y="457200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457200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B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417320" y="498348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417320" y="4983480"/>
            <a:ext cx="2743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Motors (2)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 (parallel)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52360" y="498348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52360" y="4983480"/>
            <a:ext cx="2743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Motors (2)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B (parallel)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6126480"/>
            <a:ext cx="457200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1051560" y="5989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path (7.4V / Vin / Vs)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06240" y="6126480"/>
            <a:ext cx="457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09160" y="5989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/ control path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&amp; Specifications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534924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3017520"/>
                <a:gridCol w="4480560"/>
              </a:tblGrid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Uno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ATmega328P, 5V logic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controller of the robot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Gear Motor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 gear motor, 6–12V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 mechanical movement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Wheel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65–67 mm dia.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movement on the 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L293D Motor Driver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H-Bridge, 600mA/ch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motor direction &amp; speed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HC-SR04, 2–400 cm range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obstacles, measures distance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Bluetooth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HC-05 / HC-06, 9600 baud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 wireless commands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Li-ion Battery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3.7V, 18650 cell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power to the robot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Holder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2-cell holder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the batteries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Wires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M-M / M-F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 connections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Chassis (Dot Bot)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Acrylic/ABS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Mounting platform for components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SPST toggle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the robot ON/OFF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— Manual (Bluetooth) Mode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070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2704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Li-ion batteries power the system; the switch turns the robot 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3969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&amp; Connect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459736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phone connects to the HC-05/HC-06 Bluetooth module using a serial Bluetooth terminal app.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07238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Command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92424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sends a single character: F (forward), B (backward), L (left), R (right), or S (stop).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325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0050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Decodes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325112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Bluetooth module relays the character to the Arduino Uno over serial (Rx/Tx).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65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65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377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Motors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25780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Arduino sets the L293D's IN1–IN4 pins accordingly, and the motors turn the wheels in the commanded direction.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80960" y="1234440"/>
            <a:ext cx="3931920" cy="4937760"/>
          </a:xfrm>
          <a:prstGeom prst="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5528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9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Reference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955280" y="2011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81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552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55280" y="2697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813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5528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0" y="2697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955280" y="33832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813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9552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955280" y="4069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813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95528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686800" y="4069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955280" y="47548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813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9552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8686800" y="4754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955280" y="55778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HC-05/HC-06 serial module, 9600 baud, read via a mobile Bluetooth terminal app.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— Autonomous Mode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continuous user input required — the robot senses and reacts on its own.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173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pings: HC-SR04 sends ultrasonic pulse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17520" y="1920240"/>
            <a:ext cx="0" cy="18288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210312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received → Arduino computes distance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17520" y="2606040"/>
            <a:ext cx="0" cy="18288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278892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4C95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7889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≥ 15 cm 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17520" y="3291840"/>
            <a:ext cx="0" cy="18288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20040" y="34198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47472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D7F0D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4747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moving forward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20640" y="3040380"/>
            <a:ext cx="914400" cy="0"/>
          </a:xfrm>
          <a:prstGeom prst="line">
            <a:avLst/>
          </a:prstGeom>
          <a:noFill/>
          <a:ln w="1905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257800" y="27477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78892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BE1DC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2788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motors (obstacle &lt; 15 cm)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09560" y="3291840"/>
            <a:ext cx="0" cy="182880"/>
          </a:xfrm>
          <a:prstGeom prst="line">
            <a:avLst/>
          </a:prstGeom>
          <a:noFill/>
          <a:ln w="1905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35040" y="347472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BE1DC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3474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briefly (≈ 300 ms)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09560" y="3977640"/>
            <a:ext cx="0" cy="182880"/>
          </a:xfrm>
          <a:prstGeom prst="line">
            <a:avLst/>
          </a:prstGeom>
          <a:noFill/>
          <a:ln w="1905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35040" y="416052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BE1DC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4160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right &amp; re-scan with sensor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09560" y="4663440"/>
            <a:ext cx="0" cy="182880"/>
          </a:xfrm>
          <a:prstGeom prst="line">
            <a:avLst/>
          </a:prstGeom>
          <a:noFill/>
          <a:ln w="1905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35040" y="484632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BE1DC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35040" y="4846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forward scanning loop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14400" y="5669280"/>
            <a:ext cx="8869680" cy="1051560"/>
          </a:xfrm>
          <a:prstGeom prst="rect">
            <a:avLst>
              <a:gd name="adj" fmla="val 6957"/>
            </a:avLst>
          </a:prstGeom>
          <a:solidFill>
            <a:srgbClr val="F6F8FD"/>
          </a:solidFill>
          <a:ln w="9525">
            <a:solidFill>
              <a:srgbClr val="AFC0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88720" y="5669280"/>
            <a:ext cx="8321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example: if the measured distance falls below 15 cm, the Arduino stops the motors, reverses briefly (≈ 300 ms), turns right, then resumes scanning. Both the “Yes” and “No” paths loop back to sensor pinging, forming a continuous sense → decide → act cycle.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Multi-Mode Operation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selection: the Arduino checks for an incoming Bluetooth command first on each loop cycle; if none arrives within a short timeout, it falls back to autonomous obstacle-avoidance scanning.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709160"/>
          </a:xfrm>
          <a:prstGeom prst="rect">
            <a:avLst>
              <a:gd name="adj" fmla="val 1553"/>
            </a:avLst>
          </a:prstGeom>
          <a:solidFill>
            <a:srgbClr val="F6F8FD"/>
          </a:solidFill>
          <a:ln w="9525">
            <a:solidFill>
              <a:srgbClr val="AFC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94960" cy="594360"/>
          </a:xfrm>
          <a:prstGeom prst="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1 — Bluetooth Controlled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2316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2953512"/>
            <a:ext cx="0" cy="1371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8680" y="3090672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09067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Module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3621024"/>
            <a:ext cx="0" cy="1371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68680" y="3758184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758184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4288536"/>
            <a:ext cx="0" cy="1371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8680" y="4425696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425696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L293D Motor Driver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4956048"/>
            <a:ext cx="0" cy="1371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8680" y="5093208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09320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 → Robot Movement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600200"/>
            <a:ext cx="5394960" cy="4709160"/>
          </a:xfrm>
          <a:prstGeom prst="rect">
            <a:avLst>
              <a:gd name="adj" fmla="val 1553"/>
            </a:avLst>
          </a:prstGeom>
          <a:solidFill>
            <a:srgbClr val="F6F8FD"/>
          </a:solidFill>
          <a:ln w="9525">
            <a:solidFill>
              <a:srgbClr val="AFC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600200"/>
            <a:ext cx="5394960" cy="594360"/>
          </a:xfrm>
          <a:prstGeom prst="rect">
            <a:avLst>
              <a:gd name="adj" fmla="val 12308"/>
            </a:avLst>
          </a:prstGeom>
          <a:solidFill>
            <a:srgbClr val="E881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0" y="16002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2 — Autonomous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37960" y="2423160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881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242316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15400" y="2953512"/>
            <a:ext cx="0" cy="137160"/>
          </a:xfrm>
          <a:prstGeom prst="line">
            <a:avLst/>
          </a:prstGeom>
          <a:noFill/>
          <a:ln w="19050">
            <a:solidFill>
              <a:srgbClr val="E8813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37960" y="3090672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881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309067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Detection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915400" y="3621024"/>
            <a:ext cx="0" cy="137160"/>
          </a:xfrm>
          <a:prstGeom prst="line">
            <a:avLst/>
          </a:prstGeom>
          <a:noFill/>
          <a:ln w="19050">
            <a:solidFill>
              <a:srgbClr val="E8813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537960" y="3758184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881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37960" y="3758184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915400" y="4288536"/>
            <a:ext cx="0" cy="137160"/>
          </a:xfrm>
          <a:prstGeom prst="line">
            <a:avLst/>
          </a:prstGeom>
          <a:noFill/>
          <a:ln w="19050">
            <a:solidFill>
              <a:srgbClr val="E8813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537960" y="4425696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881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37960" y="4425696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 → L293D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15400" y="4956048"/>
            <a:ext cx="0" cy="137160"/>
          </a:xfrm>
          <a:prstGeom prst="line">
            <a:avLst/>
          </a:prstGeom>
          <a:noFill/>
          <a:ln w="19050">
            <a:solidFill>
              <a:srgbClr val="E8813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537960" y="5093208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881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37960" y="509320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 → Obstacle Avoidance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Each Component Is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6387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sensor data and controls the entire robot.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63640" y="12344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6387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37960" y="13716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L293D Driver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7373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can't supply motor-level current directly, so this sits between Arduino and the motors.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6387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060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9718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obstacles without physical contact.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4688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6387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6060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Module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9718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wireless communication between phone and robot.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6387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40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Motors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2062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torque needed to move the robot.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7033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6387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3840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Wheels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2062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motor rotation into robot movement.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6387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0749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Batteries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4406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portable power — no wired supply needed.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2026-09-17T03:47:17Z</dcterms:created>
  <dcterms:modified xsi:type="dcterms:W3CDTF">2026-09-17T03:47:17Z</dcterms:modified>
</cp:coreProperties>
</file>