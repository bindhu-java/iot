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228b1623-25dc-dccb-797a-629bb67bdfb8}">
          <p14:sldIdLst>
            <p14:sldId id="256"/>
            <p14:sldId id="257"/>
          </p14:sldIdLst>
        </p14:section>
        <p14:section name="Design" id="{efd37435-3ca6-da1d-925a-bd84776db49a}">
          <p14:sldIdLst>
            <p14:sldId id="258"/>
            <p14:sldId id="259"/>
            <p14:sldId id="260"/>
          </p14:sldIdLst>
        </p14:section>
        <p14:section name="Working" id="{701d68e8-c055-1692-5514-d4497066b168}">
          <p14:sldIdLst>
            <p14:sldId id="261"/>
            <p14:sldId id="262"/>
            <p14:sldId id="263"/>
          </p14:sldIdLst>
        </p14:section>
        <p14:section name="Results" id="{7904a865-29b5-abbe-266e-68fa845e6e87}">
          <p14:sldIdLst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4E4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34E4A"/>
                </a:solidFill>
                <a:latin typeface="+mn-lt"/>
              </a:rPr>
              <a:t>Sensor accuracy: tape vs robot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(cm)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</c:v>
                  </c:pt>
                  <c:pt idx="1">
                    <c:v>10</c:v>
                  </c:pt>
                  <c:pt idx="2">
                    <c:v>20</c:v>
                  </c:pt>
                  <c:pt idx="3">
                    <c:v>50</c:v>
                  </c:pt>
                  <c:pt idx="4">
                    <c:v>100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Measured (cm)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</c:v>
                  </c:pt>
                  <c:pt idx="1">
                    <c:v>10</c:v>
                  </c:pt>
                  <c:pt idx="2">
                    <c:v>20</c:v>
                  </c:pt>
                  <c:pt idx="3">
                    <c:v>50</c:v>
                  </c:pt>
                  <c:pt idx="4">
                    <c:v>100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19</c:v>
                </c:pt>
                <c:pt idx="3">
                  <c:v>49</c:v>
                </c:pt>
                <c:pt idx="4">
                  <c:v>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64748B"/>
                    </a:solidFill>
                    <a:latin typeface="+mn-lt"/>
                  </a:rPr>
                  <a:t>Actual distance (cm)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F172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51206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Smart Autonomous Multi-Mode Robot Using Arduino  |  KLH Bachupally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Smart Autonomous Multi-Mode Robot Using Arduino  |  KLH Bachupally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EMBEDDED SYSTEM DESIGN AND IoT PROJECT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9144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Smart Autonomous Multi-Mode Robot Using Arduino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Obstacle avoidance, Bluetooth and voice control on one Arduino UNO</a:t>
            </a:r>
            <a:endParaRPr lang="en-US" sz="1600" dirty="0"/>
          </a:p>
        </p:txBody>
      </p:sp>
      <p:graphicFrame>
        <p:nvGraphicFramePr>
          <p:cNvPr id="2" name="Team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3840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R. Samshritha</a:t>
                      </a:r>
                      <a:endParaRPr lang="en-US" sz="1200" dirty="0"/>
                    </a:p>
                  </a:txBody>
                  <a:tcPr marL="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</a:rPr>
                        <a:t>2520030045</a:t>
                      </a:r>
                      <a:endParaRPr lang="en-US" sz="1200" dirty="0"/>
                    </a:p>
                  </a:txBody>
                  <a:tcPr marL="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G. Lasya Sai</a:t>
                      </a:r>
                      <a:endParaRPr lang="en-US" sz="1200" dirty="0"/>
                    </a:p>
                  </a:txBody>
                  <a:tcPr marL="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</a:rPr>
                        <a:t>2520030538</a:t>
                      </a:r>
                      <a:endParaRPr lang="en-US" sz="1200" dirty="0"/>
                    </a:p>
                  </a:txBody>
                  <a:tcPr marL="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P. Asritha</a:t>
                      </a:r>
                      <a:endParaRPr lang="en-US" sz="1200" dirty="0"/>
                    </a:p>
                  </a:txBody>
                  <a:tcPr marL="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</a:rPr>
                        <a:t>2520030592</a:t>
                      </a:r>
                      <a:endParaRPr lang="en-US" sz="1200" dirty="0"/>
                    </a:p>
                  </a:txBody>
                  <a:tcPr marL="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P. Bindhu Madhavi</a:t>
                      </a:r>
                      <a:endParaRPr lang="en-US" sz="1200" dirty="0"/>
                    </a:p>
                  </a:txBody>
                  <a:tcPr marL="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</a:rPr>
                        <a:t>2520030077</a:t>
                      </a:r>
                      <a:endParaRPr lang="en-US" sz="1200" dirty="0"/>
                    </a:p>
                  </a:txBody>
                  <a:tcPr marL="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G. Laxmisri</a:t>
                      </a:r>
                      <a:endParaRPr lang="en-US" sz="1200" dirty="0"/>
                    </a:p>
                  </a:txBody>
                  <a:tcPr marL="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</a:rPr>
                        <a:t>2520030264</a:t>
                      </a:r>
                      <a:endParaRPr lang="en-US" sz="1200" dirty="0"/>
                    </a:p>
                  </a:txBody>
                  <a:tcPr marL="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4348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Supervisor: Dr. V. Ravi Kumar  |  B.Tech II Year, AY 2026-27 Odd Sem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Dept. of Computer Science Engineering, KLEF Bachupally, Hyderabad  |  October 2026</a:t>
            </a:r>
            <a:endParaRPr lang="en-US" sz="1100" dirty="0"/>
          </a:p>
        </p:txBody>
      </p:sp>
      <p:sp>
        <p:nvSpPr>
          <p:cNvPr id="7" name="Wheel 1"/>
          <p:cNvSpPr/>
          <p:nvPr/>
        </p:nvSpPr>
        <p:spPr>
          <a:xfrm>
            <a:off x="6629400" y="1280160"/>
            <a:ext cx="365760" cy="82296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Wheel 2"/>
          <p:cNvSpPr/>
          <p:nvPr/>
        </p:nvSpPr>
        <p:spPr>
          <a:xfrm>
            <a:off x="8046720" y="1280160"/>
            <a:ext cx="365760" cy="82296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Wheel 3"/>
          <p:cNvSpPr/>
          <p:nvPr/>
        </p:nvSpPr>
        <p:spPr>
          <a:xfrm>
            <a:off x="6629400" y="3108960"/>
            <a:ext cx="365760" cy="82296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Wheel 4"/>
          <p:cNvSpPr/>
          <p:nvPr/>
        </p:nvSpPr>
        <p:spPr>
          <a:xfrm>
            <a:off x="8046720" y="3108960"/>
            <a:ext cx="365760" cy="82296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Chassis"/>
          <p:cNvSpPr/>
          <p:nvPr/>
        </p:nvSpPr>
        <p:spPr>
          <a:xfrm>
            <a:off x="6903720" y="1005840"/>
            <a:ext cx="1280160" cy="3108960"/>
          </a:xfrm>
          <a:prstGeom prst="roundRect">
            <a:avLst>
              <a:gd name="adj" fmla="val 10714"/>
            </a:avLst>
          </a:prstGeom>
          <a:solidFill>
            <a:schemeClr val="accent1"/>
          </a:solidFill>
          <a:ln/>
        </p:spPr>
      </p:sp>
      <p:sp>
        <p:nvSpPr>
          <p:cNvPr id="12" name="Sonar left"/>
          <p:cNvSpPr/>
          <p:nvPr/>
        </p:nvSpPr>
        <p:spPr>
          <a:xfrm>
            <a:off x="7086600" y="1234440"/>
            <a:ext cx="411480" cy="41148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Sonar right"/>
          <p:cNvSpPr/>
          <p:nvPr/>
        </p:nvSpPr>
        <p:spPr>
          <a:xfrm>
            <a:off x="7589520" y="1234440"/>
            <a:ext cx="411480" cy="41148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4" name="Arduino"/>
          <p:cNvSpPr/>
          <p:nvPr/>
        </p:nvSpPr>
        <p:spPr>
          <a:xfrm>
            <a:off x="7178040" y="2057400"/>
            <a:ext cx="731520" cy="5486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15" name="Text 12"/>
          <p:cNvSpPr/>
          <p:nvPr/>
        </p:nvSpPr>
        <p:spPr>
          <a:xfrm>
            <a:off x="7178040" y="20574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UNO</a:t>
            </a:r>
            <a:endParaRPr lang="en-US" sz="1200" dirty="0"/>
          </a:p>
        </p:txBody>
      </p:sp>
      <p:sp>
        <p:nvSpPr>
          <p:cNvPr id="16" name="Battery"/>
          <p:cNvSpPr/>
          <p:nvPr/>
        </p:nvSpPr>
        <p:spPr>
          <a:xfrm>
            <a:off x="7178040" y="2926080"/>
            <a:ext cx="731520" cy="82296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17" name="Text 14"/>
          <p:cNvSpPr/>
          <p:nvPr/>
        </p:nvSpPr>
        <p:spPr>
          <a:xfrm>
            <a:off x="7178040" y="29260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7.4 V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Abstract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Many low-cost robot cars offer only one control mode. This project builds a four-wheeled robot on an Arduino UNO that combines three.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An HC-SR04 sensor on an SG90 servo scans for obstacles, an HC-05 Bluetooth module takes smartphone commands, and an L298N driver powers four BO gear motors from two 18650 cells.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mode is its own function, chosen with a switch, so no code re-upload is needed.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023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Applications: warehouses, surveillance, education, assistive robots</a:t>
            </a:r>
            <a:endParaRPr lang="en-US" sz="1300" dirty="0"/>
          </a:p>
        </p:txBody>
      </p:sp>
      <p:sp>
        <p:nvSpPr>
          <p:cNvPr id="5" name="Stat card 1"/>
          <p:cNvSpPr/>
          <p:nvPr/>
        </p:nvSpPr>
        <p:spPr>
          <a:xfrm>
            <a:off x="5394960" y="1143000"/>
            <a:ext cx="160020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/>
          <p:nvPr/>
        </p:nvSpPr>
        <p:spPr>
          <a:xfrm>
            <a:off x="5394960" y="13258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0" y="2011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operating modes</a:t>
            </a:r>
            <a:endParaRPr lang="en-US" sz="1200" dirty="0"/>
          </a:p>
        </p:txBody>
      </p:sp>
      <p:sp>
        <p:nvSpPr>
          <p:cNvPr id="8" name="Stat card 2"/>
          <p:cNvSpPr/>
          <p:nvPr/>
        </p:nvSpPr>
        <p:spPr>
          <a:xfrm>
            <a:off x="7132320" y="1143000"/>
            <a:ext cx="160020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0" y="13258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223760" y="2011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BO gear motors, 60 RPM</a:t>
            </a:r>
            <a:endParaRPr lang="en-US" sz="1200" dirty="0"/>
          </a:p>
        </p:txBody>
      </p:sp>
      <p:sp>
        <p:nvSpPr>
          <p:cNvPr id="11" name="Stat card 3"/>
          <p:cNvSpPr/>
          <p:nvPr/>
        </p:nvSpPr>
        <p:spPr>
          <a:xfrm>
            <a:off x="5394960" y="2880360"/>
            <a:ext cx="160020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12 cm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86400" y="37490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obstacle stop distance</a:t>
            </a:r>
            <a:endParaRPr lang="en-US" sz="1200" dirty="0"/>
          </a:p>
        </p:txBody>
      </p:sp>
      <p:sp>
        <p:nvSpPr>
          <p:cNvPr id="14" name="Stat card 4"/>
          <p:cNvSpPr/>
          <p:nvPr/>
        </p:nvSpPr>
        <p:spPr>
          <a:xfrm>
            <a:off x="7132320" y="2880360"/>
            <a:ext cx="160020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7.4 V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223760" y="37490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 x 18650 Li-ion pack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Block Diagram</a:t>
            </a:r>
            <a:endParaRPr lang="en-US" sz="3000" dirty="0"/>
          </a:p>
        </p:txBody>
      </p:sp>
      <p:sp>
        <p:nvSpPr>
          <p:cNvPr id="3" name="Smartphone"/>
          <p:cNvSpPr/>
          <p:nvPr/>
        </p:nvSpPr>
        <p:spPr>
          <a:xfrm>
            <a:off x="411480" y="118872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Smartphone App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(buttons / voice)</a:t>
            </a:r>
            <a:endParaRPr lang="en-US" sz="1200" dirty="0"/>
          </a:p>
        </p:txBody>
      </p:sp>
      <p:sp>
        <p:nvSpPr>
          <p:cNvPr id="4" name="HC-05"/>
          <p:cNvSpPr/>
          <p:nvPr/>
        </p:nvSpPr>
        <p:spPr>
          <a:xfrm>
            <a:off x="3200400" y="1188720"/>
            <a:ext cx="2011680" cy="685800"/>
          </a:xfrm>
          <a:prstGeom prst="roundRect">
            <a:avLst>
              <a:gd name="adj" fmla="val 10667"/>
            </a:avLst>
          </a:prstGeom>
          <a:solidFill>
            <a:schemeClr val="accent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HC-05 Bluetooth</a:t>
            </a:r>
            <a:endParaRPr lang="en-US" sz="1200" dirty="0"/>
          </a:p>
        </p:txBody>
      </p:sp>
      <p:sp>
        <p:nvSpPr>
          <p:cNvPr id="5" name="Switches"/>
          <p:cNvSpPr/>
          <p:nvPr/>
        </p:nvSpPr>
        <p:spPr>
          <a:xfrm>
            <a:off x="411480" y="242316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Mode Switches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SW1, SW2, SW3</a:t>
            </a:r>
            <a:endParaRPr lang="en-US" sz="1200" dirty="0"/>
          </a:p>
        </p:txBody>
      </p:sp>
      <p:sp>
        <p:nvSpPr>
          <p:cNvPr id="6" name="Arduino"/>
          <p:cNvSpPr/>
          <p:nvPr/>
        </p:nvSpPr>
        <p:spPr>
          <a:xfrm>
            <a:off x="3200400" y="2057400"/>
            <a:ext cx="201168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Arduino UNO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(ATmega328P)</a:t>
            </a:r>
            <a:endParaRPr lang="en-US" sz="1500" dirty="0"/>
          </a:p>
        </p:txBody>
      </p:sp>
      <p:sp>
        <p:nvSpPr>
          <p:cNvPr id="7" name="HC-SR04"/>
          <p:cNvSpPr/>
          <p:nvPr/>
        </p:nvSpPr>
        <p:spPr>
          <a:xfrm>
            <a:off x="2697480" y="3977640"/>
            <a:ext cx="1280160" cy="594360"/>
          </a:xfrm>
          <a:prstGeom prst="roundRect">
            <a:avLst>
              <a:gd name="adj" fmla="val 12308"/>
            </a:avLst>
          </a:prstGeom>
          <a:solidFill>
            <a:schemeClr val="accent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HC-SR04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Ultrasonic</a:t>
            </a:r>
            <a:endParaRPr lang="en-US" sz="1100" dirty="0"/>
          </a:p>
        </p:txBody>
      </p:sp>
      <p:sp>
        <p:nvSpPr>
          <p:cNvPr id="8" name="Servo"/>
          <p:cNvSpPr/>
          <p:nvPr/>
        </p:nvSpPr>
        <p:spPr>
          <a:xfrm>
            <a:off x="4434840" y="3977640"/>
            <a:ext cx="1280160" cy="594360"/>
          </a:xfrm>
          <a:prstGeom prst="roundRect">
            <a:avLst>
              <a:gd name="adj" fmla="val 12308"/>
            </a:avLst>
          </a:prstGeom>
          <a:solidFill>
            <a:schemeClr val="accent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SG90 Servo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(scanner)</a:t>
            </a:r>
            <a:endParaRPr lang="en-US" sz="1100" dirty="0"/>
          </a:p>
        </p:txBody>
      </p:sp>
      <p:sp>
        <p:nvSpPr>
          <p:cNvPr id="9" name="Power"/>
          <p:cNvSpPr/>
          <p:nvPr/>
        </p:nvSpPr>
        <p:spPr>
          <a:xfrm>
            <a:off x="5486400" y="1188720"/>
            <a:ext cx="173736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 x 18650 (7.4 V)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+ slide switch</a:t>
            </a:r>
            <a:endParaRPr lang="en-US" sz="1100" dirty="0"/>
          </a:p>
        </p:txBody>
      </p:sp>
      <p:sp>
        <p:nvSpPr>
          <p:cNvPr id="10" name="L298N"/>
          <p:cNvSpPr/>
          <p:nvPr/>
        </p:nvSpPr>
        <p:spPr>
          <a:xfrm>
            <a:off x="5760720" y="2377440"/>
            <a:ext cx="118872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L298N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Motor Driver</a:t>
            </a:r>
            <a:endParaRPr lang="en-US" sz="1100" dirty="0"/>
          </a:p>
        </p:txBody>
      </p:sp>
      <p:sp>
        <p:nvSpPr>
          <p:cNvPr id="11" name="Left motors"/>
          <p:cNvSpPr/>
          <p:nvPr/>
        </p:nvSpPr>
        <p:spPr>
          <a:xfrm>
            <a:off x="7452360" y="201168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Left motors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M1, M2</a:t>
            </a:r>
            <a:endParaRPr lang="en-US" sz="1100" dirty="0"/>
          </a:p>
        </p:txBody>
      </p:sp>
      <p:sp>
        <p:nvSpPr>
          <p:cNvPr id="12" name="Right motors"/>
          <p:cNvSpPr/>
          <p:nvPr/>
        </p:nvSpPr>
        <p:spPr>
          <a:xfrm>
            <a:off x="7452360" y="310896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Right motors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M3, M4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14600" y="1531620"/>
            <a:ext cx="68580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headEnd type="triangl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514600" y="128016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accent3"/>
                </a:solidFill>
              </a:rPr>
              <a:t>Bluetooth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06240" y="1874520"/>
            <a:ext cx="0" cy="18288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headEnd type="triangl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297680" y="18745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chemeClr val="accent3"/>
                </a:solidFill>
              </a:rPr>
              <a:t>UART D0/D1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14600" y="2766060"/>
            <a:ext cx="68580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514600" y="25146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accent3"/>
                </a:solidFill>
              </a:rPr>
              <a:t>D2-D4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3429000"/>
            <a:ext cx="0" cy="54864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headEnd type="triangl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383280" y="35661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chemeClr val="accent3"/>
                </a:solidFill>
              </a:rPr>
              <a:t>A0/A1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74920" y="3429000"/>
            <a:ext cx="0" cy="54864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5120640" y="35661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chemeClr val="accent3"/>
                </a:solidFill>
              </a:rPr>
              <a:t>A2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12080" y="2743200"/>
            <a:ext cx="54864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166360" y="246888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accent3"/>
                </a:solidFill>
              </a:rPr>
              <a:t>D8-D11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55080" y="1874520"/>
            <a:ext cx="0" cy="50292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400800" y="20116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chemeClr val="accent3"/>
                </a:solidFill>
              </a:rPr>
              <a:t>7.4 V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 flipV="1">
            <a:off x="6949440" y="2697480"/>
            <a:ext cx="502920" cy="-32004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949440" y="2788920"/>
            <a:ext cx="502920" cy="68580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11480" y="4160520"/>
            <a:ext cx="45720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40507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Power path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4480560"/>
            <a:ext cx="45720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960120" y="43708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Signal / control path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Components Used</a:t>
            </a:r>
            <a:endParaRPr lang="en-US" sz="3000" dirty="0"/>
          </a:p>
        </p:txBody>
      </p:sp>
      <p:graphicFrame>
        <p:nvGraphicFramePr>
          <p:cNvPr id="5" name="Componen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31520"/>
                <a:gridCol w="43891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Component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Qty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Role in the project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Arduino UNO (ATmega328P)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Main controller running the firmware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L298N motor driver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Drives four DC motors as left and right pairs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HC-SR04 ultrasonic sensor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Measures distance to obstacles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HC-05 Bluetooth module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Wireless link to the smartphone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SG90 micro servo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Rotates the sensor left and right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60 RPM BO gear motor + wheel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Four-wheel drive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18650 Li-ion cell, dual holder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7.4 V supply (2 x 3.7 V in series)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Mode switches SW1-SW3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Select obstacle, Bluetooth or voice mode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Also used: slide power switch, jumper wires, foam-board chassis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Circuit and Pin Allocation</a:t>
            </a:r>
            <a:endParaRPr lang="en-US" sz="3000" dirty="0"/>
          </a:p>
        </p:txBody>
      </p:sp>
      <p:graphicFrame>
        <p:nvGraphicFramePr>
          <p:cNvPr id="6" name="Pi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6692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97280"/>
                <a:gridCol w="283464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Device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Arduino pin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Notes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HC-SR04 Trig / Echo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A1 / A0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 us pulse; pulseIn, 30 ms time-out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SG90 servo signal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A2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 (right), 103 (centre), 180 (left)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L298N IN1, IN2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D8, D9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Left motors M1, M2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L298N IN3, IN4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D10, D11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Right motors M3, M4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HC-05 TXD / RXD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D0 / D1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9600 baud; unplug while uploading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Switch SW1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D2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Obstacle avoidance (ON = LOW)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Switch SW2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D3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Bluetooth control (ON = LOW)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Switch SW3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D4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Voice control (ON = LOW)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Note card"/>
          <p:cNvSpPr/>
          <p:nvPr/>
        </p:nvSpPr>
        <p:spPr>
          <a:xfrm>
            <a:off x="6400800" y="1097280"/>
            <a:ext cx="2286000" cy="3374136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/>
          <p:nvPr/>
        </p:nvSpPr>
        <p:spPr>
          <a:xfrm>
            <a:off x="6583680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Full-speed drive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0" y="164592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ENA and ENB stay on their jumpers, so both channels are always enabled and the motors run at full supply voltage.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83680" y="31089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Software speed control needs ENA/ENB on PWM pins (future work).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Multi-Mode Operation</a:t>
            </a:r>
            <a:endParaRPr lang="en-US" sz="3000" dirty="0"/>
          </a:p>
        </p:txBody>
      </p:sp>
      <p:sp>
        <p:nvSpPr>
          <p:cNvPr id="3" name="Mode card 1"/>
          <p:cNvSpPr/>
          <p:nvPr/>
        </p:nvSpPr>
        <p:spPr>
          <a:xfrm>
            <a:off x="457200" y="1143000"/>
            <a:ext cx="256032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1188720" cy="347472"/>
          </a:xfrm>
          <a:prstGeom prst="roundRect">
            <a:avLst>
              <a:gd name="adj" fmla="val 3947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SW1 / D2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Obstacle Avoidance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Sensor scans ahead; the robot stops, looks both ways and turns toward the freer side.</a:t>
            </a:r>
            <a:endParaRPr lang="en-US" sz="1300" dirty="0"/>
          </a:p>
        </p:txBody>
      </p:sp>
      <p:sp>
        <p:nvSpPr>
          <p:cNvPr id="7" name="Mode card 2"/>
          <p:cNvSpPr/>
          <p:nvPr/>
        </p:nvSpPr>
        <p:spPr>
          <a:xfrm>
            <a:off x="3291840" y="1143000"/>
            <a:ext cx="256032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325880"/>
            <a:ext cx="1188720" cy="347472"/>
          </a:xfrm>
          <a:prstGeom prst="roundRect">
            <a:avLst>
              <a:gd name="adj" fmla="val 39474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SW2 / D3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Bluetooth Control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0" y="22402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Phone buttons send F, B, L, R or S; the last command stays active.</a:t>
            </a:r>
            <a:endParaRPr lang="en-US" sz="1300" dirty="0"/>
          </a:p>
        </p:txBody>
      </p:sp>
      <p:sp>
        <p:nvSpPr>
          <p:cNvPr id="11" name="Mode card 3"/>
          <p:cNvSpPr/>
          <p:nvPr/>
        </p:nvSpPr>
        <p:spPr>
          <a:xfrm>
            <a:off x="6126480" y="1143000"/>
            <a:ext cx="256032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325880"/>
            <a:ext cx="1188720" cy="347472"/>
          </a:xfrm>
          <a:prstGeom prst="roundRect">
            <a:avLst>
              <a:gd name="adj" fmla="val 39474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SW3 / D4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Voice Control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09360" y="22402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Phone turns speech into symbols; turns are checked for free space first.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How the mode is chosen: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switches use INPUT_PULLUP, so ON = LOW. loop() runs Obstacle(), Bluetoothcontrol() or voicecontrol() for the switch that is ON. Only one switch should be ON at a time, and no re-upload is needed to change mode.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Working: Obstacle Avoidance</a:t>
            </a:r>
            <a:endParaRPr lang="en-US" sz="3000" dirty="0"/>
          </a:p>
        </p:txBody>
      </p:sp>
      <p:sp>
        <p:nvSpPr>
          <p:cNvPr id="3" name="Read distance"/>
          <p:cNvSpPr/>
          <p:nvPr/>
        </p:nvSpPr>
        <p:spPr>
          <a:xfrm>
            <a:off x="731520" y="1188720"/>
            <a:ext cx="2011680" cy="64008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Read distance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(HC-SR04)</a:t>
            </a:r>
            <a:endParaRPr lang="en-US" sz="1200" dirty="0"/>
          </a:p>
        </p:txBody>
      </p:sp>
      <p:sp>
        <p:nvSpPr>
          <p:cNvPr id="4" name="Decision"/>
          <p:cNvSpPr/>
          <p:nvPr/>
        </p:nvSpPr>
        <p:spPr>
          <a:xfrm>
            <a:off x="548640" y="2194560"/>
            <a:ext cx="2377440" cy="1188720"/>
          </a:xfrm>
          <a:prstGeom prst="diamond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distance &lt;= 12 cm ?</a:t>
            </a:r>
            <a:endParaRPr lang="en-US" sz="1100" dirty="0"/>
          </a:p>
        </p:txBody>
      </p:sp>
      <p:sp>
        <p:nvSpPr>
          <p:cNvPr id="5" name="Forward"/>
          <p:cNvSpPr/>
          <p:nvPr/>
        </p:nvSpPr>
        <p:spPr>
          <a:xfrm>
            <a:off x="731520" y="3794760"/>
            <a:ext cx="201168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Move forward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37360" y="1828800"/>
            <a:ext cx="0" cy="36576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737360" y="3383280"/>
            <a:ext cx="0" cy="41148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810512" y="34747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No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4069080"/>
            <a:ext cx="32004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508760"/>
            <a:ext cx="0" cy="256032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508760"/>
            <a:ext cx="32004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26080" y="2788920"/>
            <a:ext cx="73152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017520" y="25420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Yes</a:t>
            </a:r>
            <a:endParaRPr lang="en-US" sz="1000" dirty="0"/>
          </a:p>
        </p:txBody>
      </p:sp>
      <p:sp>
        <p:nvSpPr>
          <p:cNvPr id="14" name="Step 1"/>
          <p:cNvSpPr/>
          <p:nvPr/>
        </p:nvSpPr>
        <p:spPr>
          <a:xfrm>
            <a:off x="3657600" y="242316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Stop, reverse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100 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0" y="2788920"/>
            <a:ext cx="27432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6" name="Step 2"/>
          <p:cNvSpPr/>
          <p:nvPr/>
        </p:nvSpPr>
        <p:spPr>
          <a:xfrm>
            <a:off x="5394960" y="242316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Scan left 180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and right 20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2788920"/>
            <a:ext cx="27432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8" name="Step 3"/>
          <p:cNvSpPr/>
          <p:nvPr/>
        </p:nvSpPr>
        <p:spPr>
          <a:xfrm>
            <a:off x="7132320" y="242316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Compare 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and R</a:t>
            </a:r>
            <a:endParaRPr lang="en-US" sz="1200" dirty="0"/>
          </a:p>
        </p:txBody>
      </p:sp>
      <p:sp>
        <p:nvSpPr>
          <p:cNvPr id="19" name="Outcome 1"/>
          <p:cNvSpPr/>
          <p:nvPr/>
        </p:nvSpPr>
        <p:spPr>
          <a:xfrm>
            <a:off x="3657600" y="3611880"/>
            <a:ext cx="14630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 &lt; 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Turn right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500 ms</a:t>
            </a:r>
            <a:endParaRPr lang="en-US" sz="1200" dirty="0"/>
          </a:p>
        </p:txBody>
      </p:sp>
      <p:sp>
        <p:nvSpPr>
          <p:cNvPr id="20" name="Outcome 2"/>
          <p:cNvSpPr/>
          <p:nvPr/>
        </p:nvSpPr>
        <p:spPr>
          <a:xfrm>
            <a:off x="5394960" y="3611880"/>
            <a:ext cx="14630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 &gt; 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Turn left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500 ms</a:t>
            </a:r>
            <a:endParaRPr lang="en-US" sz="1200" dirty="0"/>
          </a:p>
        </p:txBody>
      </p:sp>
      <p:sp>
        <p:nvSpPr>
          <p:cNvPr id="21" name="Outcome 3"/>
          <p:cNvSpPr/>
          <p:nvPr/>
        </p:nvSpPr>
        <p:spPr>
          <a:xfrm>
            <a:off x="7132320" y="3611880"/>
            <a:ext cx="14630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 = 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Reverse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500 ms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18120" y="3154680"/>
            <a:ext cx="0" cy="45720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657600" y="12344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Then the loop resumes. If no echo arrives within 30 ms, the distance is taken as 400 cm.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Working: Bluetooth and Voice Control</a:t>
            </a:r>
            <a:endParaRPr lang="en-US" sz="3000" dirty="0"/>
          </a:p>
        </p:txBody>
      </p:sp>
      <p:sp>
        <p:nvSpPr>
          <p:cNvPr id="3" name="Bluetooth (HC-05) panel"/>
          <p:cNvSpPr/>
          <p:nvPr/>
        </p:nvSpPr>
        <p:spPr>
          <a:xfrm>
            <a:off x="457200" y="1097280"/>
            <a:ext cx="4023360" cy="2788920"/>
          </a:xfrm>
          <a:prstGeom prst="roundRect">
            <a:avLst>
              <a:gd name="adj" fmla="val 327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Bluetooth (HC-05)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536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One character per button press, 9600 baud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548640" cy="329184"/>
          </a:xfrm>
          <a:prstGeom prst="roundRect">
            <a:avLst>
              <a:gd name="adj" fmla="val 22222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Forward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267712"/>
            <a:ext cx="548640" cy="329184"/>
          </a:xfrm>
          <a:prstGeom prst="roundRect">
            <a:avLst>
              <a:gd name="adj" fmla="val 22222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2677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Backward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60904"/>
            <a:ext cx="548640" cy="329184"/>
          </a:xfrm>
          <a:prstGeom prst="roundRect">
            <a:avLst>
              <a:gd name="adj" fmla="val 22222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66090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Turn left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054096"/>
            <a:ext cx="548640" cy="329184"/>
          </a:xfrm>
          <a:prstGeom prst="roundRect">
            <a:avLst>
              <a:gd name="adj" fmla="val 22222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05409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Turn right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447288"/>
            <a:ext cx="548640" cy="329184"/>
          </a:xfrm>
          <a:prstGeom prst="roundRect">
            <a:avLst>
              <a:gd name="adj" fmla="val 22222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44728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Stop</a:t>
            </a:r>
            <a:endParaRPr lang="en-US" sz="1400" dirty="0"/>
          </a:p>
        </p:txBody>
      </p:sp>
      <p:sp>
        <p:nvSpPr>
          <p:cNvPr id="16" name="Voice (phone app) panel"/>
          <p:cNvSpPr/>
          <p:nvPr/>
        </p:nvSpPr>
        <p:spPr>
          <a:xfrm>
            <a:off x="4663440" y="1097280"/>
            <a:ext cx="4023360" cy="2788920"/>
          </a:xfrm>
          <a:prstGeom prst="roundRect">
            <a:avLst>
              <a:gd name="adj" fmla="val 3279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Voice (phone app)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92040" y="1536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Speech converted to a symbol by the app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1874520"/>
            <a:ext cx="548640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23560" y="18745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Forward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2267712"/>
            <a:ext cx="548640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23560" y="22677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Backward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2660904"/>
            <a:ext cx="548640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23560" y="266090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Left, only if 10 cm free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92040" y="3054096"/>
            <a:ext cx="548640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23560" y="305409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Right, only if 10 cm free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040" y="3447288"/>
            <a:ext cx="548640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23560" y="344728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Tank turning: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side runs backward while the other runs forward, set through IN1-IN4. The last Bluetooth command stays active until a new one arrives.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Results and Discussion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2120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esult card 1"/>
          <p:cNvSpPr/>
          <p:nvPr/>
        </p:nvSpPr>
        <p:spPr>
          <a:xfrm>
            <a:off x="5943600" y="1143000"/>
            <a:ext cx="27432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/>
          <p:nvPr/>
        </p:nvSpPr>
        <p:spPr>
          <a:xfrm>
            <a:off x="6080760" y="1216152"/>
            <a:ext cx="1188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12 / 12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0" y="1216152"/>
            <a:ext cx="1280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functional tests passed</a:t>
            </a:r>
            <a:endParaRPr lang="en-US" sz="1200" dirty="0"/>
          </a:p>
        </p:txBody>
      </p:sp>
      <p:sp>
        <p:nvSpPr>
          <p:cNvPr id="7" name="Result card 2"/>
          <p:cNvSpPr/>
          <p:nvPr/>
        </p:nvSpPr>
        <p:spPr>
          <a:xfrm>
            <a:off x="5943600" y="2286000"/>
            <a:ext cx="27432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/>
          <p:nvPr/>
        </p:nvSpPr>
        <p:spPr>
          <a:xfrm>
            <a:off x="6080760" y="2359152"/>
            <a:ext cx="1188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 cm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315200" y="2359152"/>
            <a:ext cx="1280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maximum sensor error (2% at 100 cm)</a:t>
            </a:r>
            <a:endParaRPr lang="en-US" sz="1200" dirty="0"/>
          </a:p>
        </p:txBody>
      </p:sp>
      <p:sp>
        <p:nvSpPr>
          <p:cNvPr id="10" name="Result card 3"/>
          <p:cNvSpPr/>
          <p:nvPr/>
        </p:nvSpPr>
        <p:spPr>
          <a:xfrm>
            <a:off x="5943600" y="3429000"/>
            <a:ext cx="27432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/>
          <p:nvPr/>
        </p:nvSpPr>
        <p:spPr>
          <a:xfrm>
            <a:off x="6080760" y="3502152"/>
            <a:ext cx="1188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12 cm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315200" y="3502152"/>
            <a:ext cx="1280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stop threshold, well above the error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0" y="4526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Operation slowed when the battery was low.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Limitations and Future Work</a:t>
            </a:r>
            <a:endParaRPr lang="en-US" sz="3000" dirty="0"/>
          </a:p>
        </p:txBody>
      </p:sp>
      <p:sp>
        <p:nvSpPr>
          <p:cNvPr id="3" name="Limitations card"/>
          <p:cNvSpPr/>
          <p:nvPr/>
        </p:nvSpPr>
        <p:spPr>
          <a:xfrm>
            <a:off x="457200" y="1097280"/>
            <a:ext cx="402336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280160"/>
            <a:ext cx="1737360" cy="365760"/>
          </a:xfrm>
          <a:prstGeom prst="roundRect">
            <a:avLst>
              <a:gd name="adj" fmla="val 375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wheel encoders, so speed and distance are not measured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Single narrow-beam sensor can miss side objects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Bluetooth range about 10 m, no cloud link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ENA/ENB jumpers: full speed only</a:t>
            </a:r>
            <a:endParaRPr lang="en-US" sz="1400" dirty="0"/>
          </a:p>
        </p:txBody>
      </p:sp>
      <p:sp>
        <p:nvSpPr>
          <p:cNvPr id="6" name="Future Work card"/>
          <p:cNvSpPr/>
          <p:nvPr/>
        </p:nvSpPr>
        <p:spPr>
          <a:xfrm>
            <a:off x="4663440" y="1097280"/>
            <a:ext cx="402336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/>
          <p:nvPr/>
        </p:nvSpPr>
        <p:spPr>
          <a:xfrm>
            <a:off x="4892040" y="1280160"/>
            <a:ext cx="1737360" cy="365760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Future Work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92040" y="182880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ESP32 or NodeMCU for Wi-Fi and cloud (Blynk, MQTT)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PWM on ENA/ENB for software speed control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Command time-out when Bluetooth drops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Encoders, IMU and a camera for navigation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A low-cost Arduino UNO robot can combine autonomous and remote operation in a single, reproducible design.</a:t>
            </a:r>
            <a:endParaRPr lang="en-US" sz="2000" dirty="0"/>
          </a:p>
        </p:txBody>
      </p:sp>
      <p:sp>
        <p:nvSpPr>
          <p:cNvPr id="4" name="Conclusion card 1"/>
          <p:cNvSpPr/>
          <p:nvPr/>
        </p:nvSpPr>
        <p:spPr>
          <a:xfrm>
            <a:off x="457200" y="2194560"/>
            <a:ext cx="2560320" cy="2103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3774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Built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0175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Four-wheel robot with scanning sensor, L298N drive and HC-05 link.</a:t>
            </a:r>
            <a:endParaRPr lang="en-US" sz="1400" dirty="0"/>
          </a:p>
        </p:txBody>
      </p:sp>
      <p:sp>
        <p:nvSpPr>
          <p:cNvPr id="8" name="Conclusion card 2"/>
          <p:cNvSpPr/>
          <p:nvPr/>
        </p:nvSpPr>
        <p:spPr>
          <a:xfrm>
            <a:off x="3291840" y="2194560"/>
            <a:ext cx="2560320" cy="2103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3774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Tested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20440" y="30175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12 tests passed; obstacle at 12 cm detected and avoided.</a:t>
            </a:r>
            <a:endParaRPr lang="en-US" sz="1400" dirty="0"/>
          </a:p>
        </p:txBody>
      </p:sp>
      <p:sp>
        <p:nvSpPr>
          <p:cNvPr id="12" name="Conclusion card 3"/>
          <p:cNvSpPr/>
          <p:nvPr/>
        </p:nvSpPr>
        <p:spPr>
          <a:xfrm>
            <a:off x="6126480" y="2194560"/>
            <a:ext cx="2560320" cy="2103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3774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944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Extensible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55080" y="30175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Modular firmware ready for Wi-Fi, PWM speed and encoders.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Thank You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bot Teal">
  <a:themeElements>
    <a:clrScheme name="Robot Teal">
      <a:dk1>
        <a:srgbClr val="0F172A"/>
      </a:dk1>
      <a:lt1>
        <a:srgbClr val="FFFFFF"/>
      </a:lt1>
      <a:dk2>
        <a:srgbClr val="134E4A"/>
      </a:dk2>
      <a:lt2>
        <a:srgbClr val="EEF4F3"/>
      </a:lt2>
      <a:accent1>
        <a:srgbClr val="0D9488"/>
      </a:accent1>
      <a:accent2>
        <a:srgbClr val="F59E0B"/>
      </a:accent2>
      <a:accent3>
        <a:srgbClr val="64748B"/>
      </a:accent3>
      <a:accent4>
        <a:srgbClr val="E11D48"/>
      </a:accent4>
      <a:accent5>
        <a:srgbClr val="0EA5E9"/>
      </a:accent5>
      <a:accent6>
        <a:srgbClr val="84CC16"/>
      </a:accent6>
      <a:hlink>
        <a:srgbClr val="0D9488"/>
      </a:hlink>
      <a:folHlink>
        <a:srgbClr val="64748B"/>
      </a:folHlink>
    </a:clrScheme>
    <a:fontScheme name="Robot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Autonomous Multi-Mode Robot Using Arduino</dc:title>
  <dc:subject>PptxGenJS Presentation</dc:subject>
  <dc:creator>R. Samshritha, G. Lasya Sai, P. Asritha, P. Bindhu Madhavi, G. Laxmisri</dc:creator>
  <cp:lastModifiedBy>R. Samshritha, G. Lasya Sai, P. Asritha, P. Bindhu Madhavi, G. Laxmisri</cp:lastModifiedBy>
  <cp:revision>1</cp:revision>
  <dcterms:created xsi:type="dcterms:W3CDTF">2026-10-15T17:58:37Z</dcterms:created>
  <dcterms:modified xsi:type="dcterms:W3CDTF">2026-10-15T17:58:37Z</dcterms:modified>
</cp:coreProperties>
</file>